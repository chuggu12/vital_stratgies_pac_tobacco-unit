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33"/>
  </p:notesMasterIdLst>
  <p:sldIdLst>
    <p:sldId id="306" r:id="rId5"/>
    <p:sldId id="307" r:id="rId6"/>
    <p:sldId id="308" r:id="rId7"/>
    <p:sldId id="309" r:id="rId8"/>
    <p:sldId id="294" r:id="rId9"/>
    <p:sldId id="314" r:id="rId10"/>
    <p:sldId id="318" r:id="rId11"/>
    <p:sldId id="332" r:id="rId12"/>
    <p:sldId id="316" r:id="rId13"/>
    <p:sldId id="317" r:id="rId14"/>
    <p:sldId id="315" r:id="rId15"/>
    <p:sldId id="319" r:id="rId16"/>
    <p:sldId id="320" r:id="rId17"/>
    <p:sldId id="321" r:id="rId18"/>
    <p:sldId id="323" r:id="rId19"/>
    <p:sldId id="322" r:id="rId20"/>
    <p:sldId id="324" r:id="rId21"/>
    <p:sldId id="325" r:id="rId22"/>
    <p:sldId id="326" r:id="rId23"/>
    <p:sldId id="327" r:id="rId24"/>
    <p:sldId id="330" r:id="rId25"/>
    <p:sldId id="331" r:id="rId26"/>
    <p:sldId id="328" r:id="rId27"/>
    <p:sldId id="329" r:id="rId28"/>
    <p:sldId id="335" r:id="rId29"/>
    <p:sldId id="311" r:id="rId30"/>
    <p:sldId id="333" r:id="rId31"/>
    <p:sldId id="33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8" autoAdjust="0"/>
    <p:restoredTop sz="84967" autoAdjust="0"/>
  </p:normalViewPr>
  <p:slideViewPr>
    <p:cSldViewPr snapToGrid="0">
      <p:cViewPr varScale="1">
        <p:scale>
          <a:sx n="82" d="100"/>
          <a:sy n="82" d="100"/>
        </p:scale>
        <p:origin x="485" y="7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Graphic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Graphic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phic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anchor="b"/>
          <a:lstStyle>
            <a:lvl1pPr algn="l">
              <a:defRPr sz="5400" b="0" i="0" cap="none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10426827" cy="2843784"/>
          </a:xfrm>
        </p:spPr>
        <p:txBody>
          <a:bodyPr>
            <a:normAutofit/>
          </a:bodyPr>
          <a:lstStyle/>
          <a:p>
            <a:r>
              <a:rPr lang="en-US" spc="400" dirty="0"/>
              <a:t>Term </a:t>
            </a:r>
            <a:br>
              <a:rPr lang="en-US" spc="400" dirty="0"/>
            </a:br>
            <a:r>
              <a:rPr lang="en-US" spc="400" dirty="0"/>
              <a:t>methodology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4E019C9-894A-5628-92D6-A66D520274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Data Cleaning in R</a:t>
            </a:r>
          </a:p>
        </p:txBody>
      </p:sp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Steps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DE74E9-AA78-46C1-845A-0B72FA8AF3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en-US" sz="1800" dirty="0">
                <a:solidFill>
                  <a:schemeClr val="bg1"/>
                </a:solidFill>
              </a:rPr>
              <a:t>Importing data</a:t>
            </a:r>
          </a:p>
          <a:p>
            <a:pPr algn="r"/>
            <a:r>
              <a:rPr lang="en-US" dirty="0"/>
              <a:t>Merging data</a:t>
            </a:r>
            <a:endParaRPr lang="en-US" sz="1800" dirty="0">
              <a:solidFill>
                <a:schemeClr val="bg1"/>
              </a:solidFill>
            </a:endParaRPr>
          </a:p>
          <a:p>
            <a:pPr algn="r"/>
            <a:r>
              <a:rPr lang="en-US" sz="1800" dirty="0">
                <a:solidFill>
                  <a:schemeClr val="bg1"/>
                </a:solidFill>
              </a:rPr>
              <a:t>Validating data</a:t>
            </a:r>
          </a:p>
          <a:p>
            <a:pPr algn="r"/>
            <a:r>
              <a:rPr lang="en-US" dirty="0"/>
              <a:t>Cleaning data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EDFC2F-FF0A-4EC9-A0BB-0AA2B1E6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Data cleaning in 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59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15FF41-AFA4-4D25-AB42-AB034F4B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81FA9-F3B0-4912-B0E1-352094195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TERM data is shared monthly by Radarr. With a new hybrid QA approach (immediate cleansing and analysis once data is received using both automated code and human review) we can improve the turnaround and confidence in our reporting efforts.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45C472E-4078-40A0-83A2-652E8356E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September 2022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8C7C3A0-5E78-49C8-B8D4-F3DF62B2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400" dirty="0"/>
              <a:t>Data cleaning in 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34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Importing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08798-0DB3-46BF-880E-7BB904D70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read_excel()</a:t>
            </a:r>
          </a:p>
        </p:txBody>
      </p:sp>
    </p:spTree>
    <p:extLst>
      <p:ext uri="{BB962C8B-B14F-4D97-AF65-F5344CB8AC3E}">
        <p14:creationId xmlns:p14="http://schemas.microsoft.com/office/powerpoint/2010/main" val="2227882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Code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C290B8-BF94-4636-BFAB-9FD67F4A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5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pic>
        <p:nvPicPr>
          <p:cNvPr id="14" name="Content Placeholder 13" descr="Text&#10;&#10;Description automatically generated">
            <a:extLst>
              <a:ext uri="{FF2B5EF4-FFF2-40B4-BE49-F238E27FC236}">
                <a16:creationId xmlns:a16="http://schemas.microsoft.com/office/drawing/2014/main" id="{A5DE62EF-B0A3-F1C4-217D-9AF373BF01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03413"/>
            <a:ext cx="10912068" cy="2590634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C8C1BA-57AE-2014-656F-6D9CC633422E}"/>
              </a:ext>
            </a:extLst>
          </p:cNvPr>
          <p:cNvSpPr txBox="1"/>
          <p:nvPr/>
        </p:nvSpPr>
        <p:spPr>
          <a:xfrm>
            <a:off x="838200" y="1701570"/>
            <a:ext cx="10850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Individually import monthly data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C437BB-0DC2-1341-2DCA-4220C31C24CC}"/>
              </a:ext>
            </a:extLst>
          </p:cNvPr>
          <p:cNvSpPr txBox="1"/>
          <p:nvPr/>
        </p:nvSpPr>
        <p:spPr>
          <a:xfrm>
            <a:off x="869125" y="5812241"/>
            <a:ext cx="10850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We should keep naming conventions consistent for all data</a:t>
            </a:r>
          </a:p>
        </p:txBody>
      </p:sp>
    </p:spTree>
    <p:extLst>
      <p:ext uri="{BB962C8B-B14F-4D97-AF65-F5344CB8AC3E}">
        <p14:creationId xmlns:p14="http://schemas.microsoft.com/office/powerpoint/2010/main" val="78391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merging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08798-0DB3-46BF-880E-7BB904D70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full_join()</a:t>
            </a:r>
          </a:p>
        </p:txBody>
      </p:sp>
    </p:spTree>
    <p:extLst>
      <p:ext uri="{BB962C8B-B14F-4D97-AF65-F5344CB8AC3E}">
        <p14:creationId xmlns:p14="http://schemas.microsoft.com/office/powerpoint/2010/main" val="3268660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Code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C290B8-BF94-4636-BFAB-9FD67F4A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7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pic>
        <p:nvPicPr>
          <p:cNvPr id="6" name="Content Placeholder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DEECBEBB-C4C4-3FD5-490D-2469FA9487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82318"/>
            <a:ext cx="10808882" cy="299709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B8A737-E06C-4FD3-CB99-20BCC42A963C}"/>
              </a:ext>
            </a:extLst>
          </p:cNvPr>
          <p:cNvSpPr txBox="1"/>
          <p:nvPr/>
        </p:nvSpPr>
        <p:spPr>
          <a:xfrm>
            <a:off x="838200" y="1606158"/>
            <a:ext cx="10850217" cy="788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Examine individual dataset structure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All columns that you want to merge on, must have the same name and data type</a:t>
            </a:r>
          </a:p>
        </p:txBody>
      </p:sp>
    </p:spTree>
    <p:extLst>
      <p:ext uri="{BB962C8B-B14F-4D97-AF65-F5344CB8AC3E}">
        <p14:creationId xmlns:p14="http://schemas.microsoft.com/office/powerpoint/2010/main" val="4162422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Output</a:t>
            </a:r>
            <a:endParaRPr lang="en-US" sz="5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C290B8-BF94-4636-BFAB-9FD67F4A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8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pic>
        <p:nvPicPr>
          <p:cNvPr id="6" name="Content Placeholder 5" descr="Text&#10;&#10;Description automatically generated">
            <a:extLst>
              <a:ext uri="{FF2B5EF4-FFF2-40B4-BE49-F238E27FC236}">
                <a16:creationId xmlns:a16="http://schemas.microsoft.com/office/drawing/2014/main" id="{5B54135C-9380-1AD3-760D-5F64D4A7C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1377" y="1492481"/>
            <a:ext cx="8810046" cy="5110039"/>
          </a:xfrm>
        </p:spPr>
      </p:pic>
    </p:spTree>
    <p:extLst>
      <p:ext uri="{BB962C8B-B14F-4D97-AF65-F5344CB8AC3E}">
        <p14:creationId xmlns:p14="http://schemas.microsoft.com/office/powerpoint/2010/main" val="2803858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Output</a:t>
            </a:r>
            <a:endParaRPr lang="en-US" sz="5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C290B8-BF94-4636-BFAB-9FD67F4A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9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21D566F9-ED23-F1A9-EDE3-41B7F0467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4607" y="1444740"/>
            <a:ext cx="10002786" cy="5048135"/>
          </a:xfrm>
        </p:spPr>
      </p:pic>
    </p:spTree>
    <p:extLst>
      <p:ext uri="{BB962C8B-B14F-4D97-AF65-F5344CB8AC3E}">
        <p14:creationId xmlns:p14="http://schemas.microsoft.com/office/powerpoint/2010/main" val="3672865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validating data </a:t>
            </a:r>
            <a:br>
              <a:rPr lang="en-US" dirty="0"/>
            </a:br>
            <a:r>
              <a:rPr lang="en-US" dirty="0"/>
              <a:t>ex.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08798-0DB3-46BF-880E-7BB904D70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set_diff()</a:t>
            </a:r>
          </a:p>
        </p:txBody>
      </p:sp>
    </p:spTree>
    <p:extLst>
      <p:ext uri="{BB962C8B-B14F-4D97-AF65-F5344CB8AC3E}">
        <p14:creationId xmlns:p14="http://schemas.microsoft.com/office/powerpoint/2010/main" val="1828383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Code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C290B8-BF94-4636-BFAB-9FD67F4A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11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pic>
        <p:nvPicPr>
          <p:cNvPr id="11" name="Content Placeholder 10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65A7E4BE-7A5F-0838-94E5-C3D91A5033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529" y="3406838"/>
            <a:ext cx="10940844" cy="226332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2D93E8-F7CF-A8B6-A52A-7870888853FD}"/>
              </a:ext>
            </a:extLst>
          </p:cNvPr>
          <p:cNvSpPr txBox="1"/>
          <p:nvPr/>
        </p:nvSpPr>
        <p:spPr>
          <a:xfrm>
            <a:off x="1044529" y="1638214"/>
            <a:ext cx="103092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Create list of all valid response options from codebook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Compare list of valid response options to response options detected in dataset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Isolate invalid response options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726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cleaning data</a:t>
            </a:r>
            <a:br>
              <a:rPr lang="en-US" dirty="0"/>
            </a:br>
            <a:r>
              <a:rPr lang="en-US" dirty="0"/>
              <a:t>ex.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08798-0DB3-46BF-880E-7BB904D70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mapvalues()</a:t>
            </a:r>
          </a:p>
        </p:txBody>
      </p:sp>
    </p:spTree>
    <p:extLst>
      <p:ext uri="{BB962C8B-B14F-4D97-AF65-F5344CB8AC3E}">
        <p14:creationId xmlns:p14="http://schemas.microsoft.com/office/powerpoint/2010/main" val="1624573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Code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C290B8-BF94-4636-BFAB-9FD67F4A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13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pic>
        <p:nvPicPr>
          <p:cNvPr id="6" name="Content Placeholder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32A3831-EA63-9B47-F4EC-81B0FDCAC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529" y="2905809"/>
            <a:ext cx="10963275" cy="247873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9516C1-BE10-389E-CCF7-95E5D7369057}"/>
              </a:ext>
            </a:extLst>
          </p:cNvPr>
          <p:cNvSpPr txBox="1"/>
          <p:nvPr/>
        </p:nvSpPr>
        <p:spPr>
          <a:xfrm>
            <a:off x="1044529" y="1869679"/>
            <a:ext cx="10309271" cy="1302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Recode invalid response options that cannot be accepted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Rerun validation test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968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validating data </a:t>
            </a:r>
            <a:br>
              <a:rPr lang="en-US" dirty="0"/>
            </a:br>
            <a:r>
              <a:rPr lang="en-US" dirty="0"/>
              <a:t>ex.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6E4CD-FC8B-2D0D-72E7-4923E85FF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/>
          <a:lstStyle/>
          <a:p>
            <a:r>
              <a:rPr lang="en-US" dirty="0"/>
              <a:t>set_diff()</a:t>
            </a:r>
          </a:p>
        </p:txBody>
      </p:sp>
    </p:spTree>
    <p:extLst>
      <p:ext uri="{BB962C8B-B14F-4D97-AF65-F5344CB8AC3E}">
        <p14:creationId xmlns:p14="http://schemas.microsoft.com/office/powerpoint/2010/main" val="3753397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Code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C290B8-BF94-4636-BFAB-9FD67F4A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15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pic>
        <p:nvPicPr>
          <p:cNvPr id="6" name="Content Placeholder 5" descr="A picture containing text&#10;&#10;Description automatically generated">
            <a:extLst>
              <a:ext uri="{FF2B5EF4-FFF2-40B4-BE49-F238E27FC236}">
                <a16:creationId xmlns:a16="http://schemas.microsoft.com/office/drawing/2014/main" id="{776B0854-1909-22CC-8C01-14FE5A560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529" y="2885826"/>
            <a:ext cx="10137250" cy="309682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5A9CF6-7DCE-1307-E1F9-A39467892BB0}"/>
              </a:ext>
            </a:extLst>
          </p:cNvPr>
          <p:cNvSpPr txBox="1"/>
          <p:nvPr/>
        </p:nvSpPr>
        <p:spPr>
          <a:xfrm>
            <a:off x="1044529" y="1516254"/>
            <a:ext cx="103092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Create list of all valid response options from codebook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Compare list of valid response options to response options detected in dataset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Isolate invalid response options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86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cleaning data</a:t>
            </a:r>
            <a:br>
              <a:rPr lang="en-US" dirty="0"/>
            </a:br>
            <a:r>
              <a:rPr lang="en-US" dirty="0"/>
              <a:t>ex.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08798-0DB3-46BF-880E-7BB904D70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mutate() , casewhen()</a:t>
            </a:r>
          </a:p>
        </p:txBody>
      </p:sp>
    </p:spTree>
    <p:extLst>
      <p:ext uri="{BB962C8B-B14F-4D97-AF65-F5344CB8AC3E}">
        <p14:creationId xmlns:p14="http://schemas.microsoft.com/office/powerpoint/2010/main" val="2995271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Code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C290B8-BF94-4636-BFAB-9FD67F4A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17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pic>
        <p:nvPicPr>
          <p:cNvPr id="16" name="Content Placeholder 15" descr="Text&#10;&#10;Description automatically generated">
            <a:extLst>
              <a:ext uri="{FF2B5EF4-FFF2-40B4-BE49-F238E27FC236}">
                <a16:creationId xmlns:a16="http://schemas.microsoft.com/office/drawing/2014/main" id="{E11F594B-ADDE-4D1C-DB22-2768F98F6C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8482" y="2652446"/>
            <a:ext cx="9655036" cy="393324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77DAB2-084D-7258-6A26-8BC87DB7C4E5}"/>
              </a:ext>
            </a:extLst>
          </p:cNvPr>
          <p:cNvSpPr txBox="1"/>
          <p:nvPr/>
        </p:nvSpPr>
        <p:spPr>
          <a:xfrm>
            <a:off x="838200" y="1436009"/>
            <a:ext cx="10309271" cy="167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Create individual lists for each brand containing all possible model types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Search for any product that has been coded as a model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If model mention is found, recode product to correct response option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865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Output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C290B8-BF94-4636-BFAB-9FD67F4A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18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pic>
        <p:nvPicPr>
          <p:cNvPr id="6" name="Content Placeholder 5" descr="Text&#10;&#10;Description automatically generated with low confidence">
            <a:extLst>
              <a:ext uri="{FF2B5EF4-FFF2-40B4-BE49-F238E27FC236}">
                <a16:creationId xmlns:a16="http://schemas.microsoft.com/office/drawing/2014/main" id="{823E375C-C0D4-090F-FAB4-7B486EA675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8555" y="2614825"/>
            <a:ext cx="7115755" cy="410665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4DD7CB-90DD-79A5-C546-C1A19531CF46}"/>
              </a:ext>
            </a:extLst>
          </p:cNvPr>
          <p:cNvSpPr txBox="1"/>
          <p:nvPr/>
        </p:nvSpPr>
        <p:spPr>
          <a:xfrm>
            <a:off x="838200" y="1372401"/>
            <a:ext cx="10309271" cy="788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Manually check frequency counts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“Unknown” responses with high frequencies could indicate some form of surrogate marketing </a:t>
            </a:r>
          </a:p>
        </p:txBody>
      </p:sp>
    </p:spTree>
    <p:extLst>
      <p:ext uri="{BB962C8B-B14F-4D97-AF65-F5344CB8AC3E}">
        <p14:creationId xmlns:p14="http://schemas.microsoft.com/office/powerpoint/2010/main" val="3535256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validating data </a:t>
            </a:r>
            <a:br>
              <a:rPr lang="en-US" dirty="0"/>
            </a:br>
            <a:r>
              <a:rPr lang="en-US" dirty="0"/>
              <a:t>ex.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C0344-D9C0-BA5A-2663-44D9A43F2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/>
          <a:lstStyle/>
          <a:p>
            <a:r>
              <a:rPr lang="en-US" dirty="0"/>
              <a:t>get_dupes()</a:t>
            </a:r>
          </a:p>
        </p:txBody>
      </p:sp>
    </p:spTree>
    <p:extLst>
      <p:ext uri="{BB962C8B-B14F-4D97-AF65-F5344CB8AC3E}">
        <p14:creationId xmlns:p14="http://schemas.microsoft.com/office/powerpoint/2010/main" val="719407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Code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C290B8-BF94-4636-BFAB-9FD67F4A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20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pic>
        <p:nvPicPr>
          <p:cNvPr id="11" name="Content Placeholder 10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5B43638-83CC-455E-AA3D-5EB3C6A6AA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3016470"/>
            <a:ext cx="10801351" cy="18031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DAB235-D49A-4354-560F-2E2707353BB7}"/>
              </a:ext>
            </a:extLst>
          </p:cNvPr>
          <p:cNvSpPr txBox="1"/>
          <p:nvPr/>
        </p:nvSpPr>
        <p:spPr>
          <a:xfrm>
            <a:off x="838199" y="1849478"/>
            <a:ext cx="10309271" cy="788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Search for duplicate records meeting specific criteria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If duplicates are found, isolate and investigate further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39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cleaning data</a:t>
            </a:r>
            <a:br>
              <a:rPr lang="en-US" dirty="0"/>
            </a:br>
            <a:r>
              <a:rPr lang="en-US" dirty="0"/>
              <a:t>ex.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08798-0DB3-46BF-880E-7BB904D70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distinct()</a:t>
            </a:r>
          </a:p>
        </p:txBody>
      </p:sp>
    </p:spTree>
    <p:extLst>
      <p:ext uri="{BB962C8B-B14F-4D97-AF65-F5344CB8AC3E}">
        <p14:creationId xmlns:p14="http://schemas.microsoft.com/office/powerpoint/2010/main" val="1760294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Code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C290B8-BF94-4636-BFAB-9FD67F4A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22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176E88-A878-1EF7-DD92-458EE8373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96562"/>
            <a:ext cx="11092070" cy="98893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7920BD-F803-39B7-B52A-6BBD6F216114}"/>
              </a:ext>
            </a:extLst>
          </p:cNvPr>
          <p:cNvSpPr txBox="1"/>
          <p:nvPr/>
        </p:nvSpPr>
        <p:spPr>
          <a:xfrm>
            <a:off x="838200" y="1698397"/>
            <a:ext cx="10309271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After confirming duplicates, remove by keeping only unique records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C2A46B-A9AC-A50F-BCBD-DD82FE2B97AB}"/>
              </a:ext>
            </a:extLst>
          </p:cNvPr>
          <p:cNvSpPr txBox="1"/>
          <p:nvPr/>
        </p:nvSpPr>
        <p:spPr>
          <a:xfrm>
            <a:off x="838200" y="5482681"/>
            <a:ext cx="10309271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*Duplicate records can be subset into a separate data frame if necessary</a:t>
            </a:r>
          </a:p>
        </p:txBody>
      </p:sp>
    </p:spTree>
    <p:extLst>
      <p:ext uri="{BB962C8B-B14F-4D97-AF65-F5344CB8AC3E}">
        <p14:creationId xmlns:p14="http://schemas.microsoft.com/office/powerpoint/2010/main" val="73840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validating data </a:t>
            </a:r>
            <a:br>
              <a:rPr lang="en-US" dirty="0"/>
            </a:br>
            <a:r>
              <a:rPr lang="en-US" dirty="0"/>
              <a:t>ex.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B4C9D9-AD7E-A7CB-8354-348C44683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/>
          <a:lstStyle/>
          <a:p>
            <a:r>
              <a:rPr lang="en-US" dirty="0"/>
              <a:t>url.exists()</a:t>
            </a:r>
          </a:p>
        </p:txBody>
      </p:sp>
    </p:spTree>
    <p:extLst>
      <p:ext uri="{BB962C8B-B14F-4D97-AF65-F5344CB8AC3E}">
        <p14:creationId xmlns:p14="http://schemas.microsoft.com/office/powerpoint/2010/main" val="2702017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Code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C290B8-BF94-4636-BFAB-9FD67F4A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8DA9DAA-006C-4F4B-980E-E3DF019B24E2}" type="slidenum">
              <a:rPr lang="en-US" b="1" cap="all" spc="100" smtClean="0">
                <a:solidFill>
                  <a:schemeClr val="accent2"/>
                </a:solidFill>
              </a:rPr>
              <a:t>24</a:t>
            </a:fld>
            <a:endParaRPr lang="en-US" b="1" cap="all" spc="100" dirty="0">
              <a:solidFill>
                <a:schemeClr val="accent2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C701AB-526E-BF86-005B-1C34F4A8FD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273832"/>
            <a:ext cx="10905592" cy="117874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7FC20F-2593-F392-99B4-A51E6D49752B}"/>
              </a:ext>
            </a:extLst>
          </p:cNvPr>
          <p:cNvSpPr txBox="1"/>
          <p:nvPr/>
        </p:nvSpPr>
        <p:spPr>
          <a:xfrm>
            <a:off x="838199" y="1849478"/>
            <a:ext cx="10309271" cy="788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Search for active url links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Isolate missing url links </a:t>
            </a:r>
          </a:p>
        </p:txBody>
      </p:sp>
    </p:spTree>
    <p:extLst>
      <p:ext uri="{BB962C8B-B14F-4D97-AF65-F5344CB8AC3E}">
        <p14:creationId xmlns:p14="http://schemas.microsoft.com/office/powerpoint/2010/main" val="3094816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DDF40-EF49-208B-230F-B6D99FC17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in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57EE5-BC14-3878-E7A4-57D4357CB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Add frequency checks to all variables to ensure cases have not been lost in cleansing process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Add validation measures for any other constraints that haven’t been addressed yet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Improve current list of companies, brands, and product models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Work on code to automatically upload URLs to Wayback Machine or some other platform where we can store post links.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Further identifying coding patterns we can use to improve coding of “subjective” data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34C74-8577-B0CF-7FEF-589E1A5AD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904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FB28F-C9D7-439B-B863-44B4E851A0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0061247-EA4F-4DFA-AFCE-648487762C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Subjective data with no clear decision pattern still needs to be manually recoded based on country teams subject matter expertise. 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249ACE4E-0038-4BA2-8883-8C3F73B7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3" y="1591056"/>
            <a:ext cx="3547872" cy="365125"/>
          </a:xfrm>
        </p:spPr>
        <p:txBody>
          <a:bodyPr/>
          <a:lstStyle/>
          <a:p>
            <a:r>
              <a:rPr lang="en-US" dirty="0"/>
              <a:t>Cleaning data in r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A686A52-7630-4675-B383-8C2AD252E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772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15FF41-AFA4-4D25-AB42-AB034F4B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81FA9-F3B0-4912-B0E1-352094195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8C7C3A0-5E78-49C8-B8D4-F3DF62B2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400" dirty="0"/>
              <a:t>Data cleaning in 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328C1480-71F4-F2D3-8D97-1DD7A17026B8}"/>
              </a:ext>
            </a:extLst>
          </p:cNvPr>
          <p:cNvSpPr txBox="1">
            <a:spLocks/>
          </p:cNvSpPr>
          <p:nvPr/>
        </p:nvSpPr>
        <p:spPr>
          <a:xfrm>
            <a:off x="1002792" y="2977896"/>
            <a:ext cx="6190488" cy="3346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/>
              <a:t>This approach can benefit TERM by creating more efficient analysis and reporting, while also allowing for more robust QA standards (tracking and reproducibility).</a:t>
            </a:r>
          </a:p>
          <a:p>
            <a:pPr marL="342900" indent="-34290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057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9BBF5-733F-7FA3-62CB-779A4B72B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C9836-B736-DEF7-B2EF-2EFEAE1DA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Make appropriate changes to the code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Test code on the other most recent country datasets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Create SOP for TERM data management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Automate chart creation (Excel)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Build external dashboard (Tableau)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A9E61-D38C-FD10-27D5-07D5E2CF9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cleaning in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D7F2F-0B2C-F77C-FC1A-DAB44EC6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45798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Univers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{7BA51ACC-F6E6-4E97-BBFB-D8B4C3F498E7}tf89338750_win32</Template>
  <TotalTime>10650</TotalTime>
  <Words>551</Words>
  <Application>Microsoft Office PowerPoint</Application>
  <PresentationFormat>Widescreen</PresentationFormat>
  <Paragraphs>103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Univers</vt:lpstr>
      <vt:lpstr>GradientUnivers</vt:lpstr>
      <vt:lpstr>Term  methodology</vt:lpstr>
      <vt:lpstr>Steps</vt:lpstr>
      <vt:lpstr>Overview</vt:lpstr>
      <vt:lpstr>Importing data</vt:lpstr>
      <vt:lpstr>Code</vt:lpstr>
      <vt:lpstr>merging data</vt:lpstr>
      <vt:lpstr>Code</vt:lpstr>
      <vt:lpstr>Output</vt:lpstr>
      <vt:lpstr>Output</vt:lpstr>
      <vt:lpstr>validating data  ex. 1</vt:lpstr>
      <vt:lpstr>Code</vt:lpstr>
      <vt:lpstr>cleaning data ex. 1</vt:lpstr>
      <vt:lpstr>Code</vt:lpstr>
      <vt:lpstr>validating data  ex. 2</vt:lpstr>
      <vt:lpstr>Code</vt:lpstr>
      <vt:lpstr>cleaning data ex. 2</vt:lpstr>
      <vt:lpstr>Code</vt:lpstr>
      <vt:lpstr>Output</vt:lpstr>
      <vt:lpstr>validating data  ex. 3</vt:lpstr>
      <vt:lpstr>Code</vt:lpstr>
      <vt:lpstr>cleaning data ex. 3</vt:lpstr>
      <vt:lpstr>Code</vt:lpstr>
      <vt:lpstr>validating data  ex. 4</vt:lpstr>
      <vt:lpstr>Code</vt:lpstr>
      <vt:lpstr>Work in Progress</vt:lpstr>
      <vt:lpstr>Limitations</vt:lpstr>
      <vt:lpstr>Summary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  methodology</dc:title>
  <dc:creator>ANKIT ANAND</dc:creator>
  <cp:lastModifiedBy>Ankit Anand</cp:lastModifiedBy>
  <cp:revision>38</cp:revision>
  <dcterms:created xsi:type="dcterms:W3CDTF">2022-09-08T14:33:16Z</dcterms:created>
  <dcterms:modified xsi:type="dcterms:W3CDTF">2025-12-25T02:46:34Z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